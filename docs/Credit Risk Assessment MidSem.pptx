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2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61" r:id="rId5"/>
    <p:sldId id="262" r:id="rId6"/>
    <p:sldId id="277" r:id="rId7"/>
    <p:sldId id="263" r:id="rId8"/>
    <p:sldId id="279" r:id="rId9"/>
    <p:sldId id="278" r:id="rId10"/>
    <p:sldId id="281" r:id="rId11"/>
    <p:sldId id="264" r:id="rId12"/>
    <p:sldId id="265" r:id="rId13"/>
    <p:sldId id="266" r:id="rId14"/>
    <p:sldId id="259" r:id="rId15"/>
    <p:sldId id="260" r:id="rId16"/>
    <p:sldId id="267" r:id="rId17"/>
    <p:sldId id="268" r:id="rId18"/>
    <p:sldId id="269" r:id="rId19"/>
    <p:sldId id="283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1338" y="5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2426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9182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7865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5885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0355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2401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935534"/>
            <a:ext cx="7924800" cy="879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Risk Assessment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902300" y="2459534"/>
            <a:ext cx="33394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Mid-Semester Viva Presentation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583903" y="3084314"/>
            <a:ext cx="197619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M.Tech AIML Dissertation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133195" y="3324225"/>
            <a:ext cx="287761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Sudhir Suresh Zanje (2023AC05339)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456844" y="4021336"/>
            <a:ext cx="223016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HSBC Technology India • BITS Pilani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 (Part 1)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robust baseline models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using ML on available public credit datasets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classifiers: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Logistic Regression, Random Forest, LightGBM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benchmarks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ROC-AUC, Precision, Recall, F1-score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 class imbalance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using SMOTE and class weighting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 (Part 2)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Explainable AI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(SHAP, LIME) for interpretability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deployable pipeline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banking environment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Calibrate decision thresholds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different business objectives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Quantify business impact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approval rates and default detection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7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BCE20DE-CA1A-4693-A725-61BCD008E6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2222" y="1020961"/>
            <a:ext cx="5928233" cy="40104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Data 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1: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View Records → Frontend → API → Database → Frontend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2: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View with Risk → Frontend → API → Database → ML Service → Frontend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3:</a:t>
            </a:r>
            <a:r>
              <a:rPr lang="en-US" sz="135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Add Record (Future) → Frontend → API → ML Service (predict) → Database</a:t>
            </a:r>
            <a:endParaRPr lang="en-US" sz="1350" i="1" dirty="0"/>
          </a:p>
        </p:txBody>
      </p:sp>
      <p:sp>
        <p:nvSpPr>
          <p:cNvPr id="4" name="Text 2"/>
          <p:cNvSpPr/>
          <p:nvPr/>
        </p:nvSpPr>
        <p:spPr>
          <a:xfrm>
            <a:off x="609600" y="2632323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communication through REST APIs with data validation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Data Flow</a:t>
            </a:r>
            <a:endParaRPr lang="en-US" sz="27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A89ED6-03BC-4593-A289-052BC48081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1996" y="1191998"/>
            <a:ext cx="5178022" cy="395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702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cs typeface="Arial" pitchFamily="34" charset="-120"/>
              </a:rPr>
              <a:t>Dataset Details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30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90"/>
              </a:lnSpc>
              <a:buSzPct val="100000"/>
              <a:buChar char="•"/>
            </a:pPr>
            <a:endParaRPr lang="en-US" sz="10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4C6F92-15F1-448C-9B29-D98625940DC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47255" y="3928825"/>
            <a:ext cx="6219825" cy="8515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04D8336-3D30-4AC6-8932-6AA3B69DDD90}"/>
              </a:ext>
            </a:extLst>
          </p:cNvPr>
          <p:cNvSpPr txBox="1"/>
          <p:nvPr/>
        </p:nvSpPr>
        <p:spPr>
          <a:xfrm>
            <a:off x="581891" y="1059121"/>
            <a:ext cx="6150552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Data Column details : </a:t>
            </a:r>
          </a:p>
          <a:p>
            <a:r>
              <a:rPr lang="en-IN" sz="1000" dirty="0">
                <a:solidFill>
                  <a:schemeClr val="bg1"/>
                </a:solidFill>
              </a:rPr>
              <a:t>Data columns (total 12 columns):</a:t>
            </a:r>
          </a:p>
          <a:p>
            <a:r>
              <a:rPr lang="en-IN" sz="1000" dirty="0">
                <a:solidFill>
                  <a:schemeClr val="bg1"/>
                </a:solidFill>
              </a:rPr>
              <a:t> #   Column                      Non-Null Count  </a:t>
            </a:r>
            <a:r>
              <a:rPr lang="en-IN" sz="1000" dirty="0" err="1">
                <a:solidFill>
                  <a:schemeClr val="bg1"/>
                </a:solidFill>
              </a:rPr>
              <a:t>Dtype</a:t>
            </a:r>
            <a:r>
              <a:rPr lang="en-IN" sz="1000" dirty="0">
                <a:solidFill>
                  <a:schemeClr val="bg1"/>
                </a:solidFill>
              </a:rPr>
              <a:t>  </a:t>
            </a:r>
          </a:p>
          <a:p>
            <a:r>
              <a:rPr lang="en-IN" sz="1000" dirty="0">
                <a:solidFill>
                  <a:schemeClr val="bg1"/>
                </a:solidFill>
              </a:rPr>
              <a:t>---  ------                      --------------  -----  </a:t>
            </a:r>
          </a:p>
          <a:p>
            <a:r>
              <a:rPr lang="en-IN" sz="1000" dirty="0">
                <a:solidFill>
                  <a:schemeClr val="bg1"/>
                </a:solidFill>
              </a:rPr>
              <a:t> 0   </a:t>
            </a:r>
            <a:r>
              <a:rPr lang="en-IN" sz="1000" dirty="0" err="1">
                <a:solidFill>
                  <a:schemeClr val="bg1"/>
                </a:solidFill>
              </a:rPr>
              <a:t>person_age</a:t>
            </a:r>
            <a:r>
              <a:rPr lang="en-IN" sz="1000" dirty="0">
                <a:solidFill>
                  <a:schemeClr val="bg1"/>
                </a:solidFill>
              </a:rPr>
              <a:t>                  32581 non-null  int64  </a:t>
            </a:r>
          </a:p>
          <a:p>
            <a:r>
              <a:rPr lang="en-IN" sz="1000" dirty="0">
                <a:solidFill>
                  <a:schemeClr val="bg1"/>
                </a:solidFill>
              </a:rPr>
              <a:t> 1   </a:t>
            </a:r>
            <a:r>
              <a:rPr lang="en-IN" sz="1000" dirty="0" err="1">
                <a:solidFill>
                  <a:schemeClr val="bg1"/>
                </a:solidFill>
              </a:rPr>
              <a:t>person_income</a:t>
            </a:r>
            <a:r>
              <a:rPr lang="en-IN" sz="1000" dirty="0">
                <a:solidFill>
                  <a:schemeClr val="bg1"/>
                </a:solidFill>
              </a:rPr>
              <a:t>               32581 non-null  int64  </a:t>
            </a:r>
          </a:p>
          <a:p>
            <a:r>
              <a:rPr lang="en-IN" sz="1000" dirty="0">
                <a:solidFill>
                  <a:schemeClr val="bg1"/>
                </a:solidFill>
              </a:rPr>
              <a:t> 2   </a:t>
            </a:r>
            <a:r>
              <a:rPr lang="en-IN" sz="1000" dirty="0" err="1">
                <a:solidFill>
                  <a:schemeClr val="bg1"/>
                </a:solidFill>
              </a:rPr>
              <a:t>person_home_ownership</a:t>
            </a:r>
            <a:r>
              <a:rPr lang="en-IN" sz="1000" dirty="0">
                <a:solidFill>
                  <a:schemeClr val="bg1"/>
                </a:solidFill>
              </a:rPr>
              <a:t>       32581 non-null  object </a:t>
            </a:r>
          </a:p>
          <a:p>
            <a:r>
              <a:rPr lang="en-IN" sz="1000" dirty="0">
                <a:solidFill>
                  <a:schemeClr val="bg1"/>
                </a:solidFill>
              </a:rPr>
              <a:t> 3   </a:t>
            </a:r>
            <a:r>
              <a:rPr lang="en-IN" sz="1000" dirty="0" err="1">
                <a:solidFill>
                  <a:schemeClr val="bg1"/>
                </a:solidFill>
              </a:rPr>
              <a:t>person_emp_length</a:t>
            </a:r>
            <a:r>
              <a:rPr lang="en-IN" sz="1000" dirty="0">
                <a:solidFill>
                  <a:schemeClr val="bg1"/>
                </a:solidFill>
              </a:rPr>
              <a:t>           31686 non-null  float64</a:t>
            </a:r>
          </a:p>
          <a:p>
            <a:r>
              <a:rPr lang="en-IN" sz="1000" dirty="0">
                <a:solidFill>
                  <a:schemeClr val="bg1"/>
                </a:solidFill>
              </a:rPr>
              <a:t> 4   </a:t>
            </a:r>
            <a:r>
              <a:rPr lang="en-IN" sz="1000" dirty="0" err="1">
                <a:solidFill>
                  <a:schemeClr val="bg1"/>
                </a:solidFill>
              </a:rPr>
              <a:t>loan_intent</a:t>
            </a:r>
            <a:r>
              <a:rPr lang="en-IN" sz="1000" dirty="0">
                <a:solidFill>
                  <a:schemeClr val="bg1"/>
                </a:solidFill>
              </a:rPr>
              <a:t>                 32581 non-null  object </a:t>
            </a:r>
          </a:p>
          <a:p>
            <a:r>
              <a:rPr lang="en-IN" sz="1000" dirty="0">
                <a:solidFill>
                  <a:schemeClr val="bg1"/>
                </a:solidFill>
              </a:rPr>
              <a:t> 5   </a:t>
            </a:r>
            <a:r>
              <a:rPr lang="en-IN" sz="1000" dirty="0" err="1">
                <a:solidFill>
                  <a:schemeClr val="bg1"/>
                </a:solidFill>
              </a:rPr>
              <a:t>loan_grade</a:t>
            </a:r>
            <a:r>
              <a:rPr lang="en-IN" sz="1000" dirty="0">
                <a:solidFill>
                  <a:schemeClr val="bg1"/>
                </a:solidFill>
              </a:rPr>
              <a:t>                  32581 non-null  object </a:t>
            </a:r>
          </a:p>
          <a:p>
            <a:r>
              <a:rPr lang="en-IN" sz="1000" dirty="0">
                <a:solidFill>
                  <a:schemeClr val="bg1"/>
                </a:solidFill>
              </a:rPr>
              <a:t> 6   </a:t>
            </a:r>
            <a:r>
              <a:rPr lang="en-IN" sz="1000" dirty="0" err="1">
                <a:solidFill>
                  <a:schemeClr val="bg1"/>
                </a:solidFill>
              </a:rPr>
              <a:t>loan_amnt</a:t>
            </a:r>
            <a:r>
              <a:rPr lang="en-IN" sz="1000" dirty="0">
                <a:solidFill>
                  <a:schemeClr val="bg1"/>
                </a:solidFill>
              </a:rPr>
              <a:t>                   32581 non-null  int64  </a:t>
            </a:r>
          </a:p>
          <a:p>
            <a:r>
              <a:rPr lang="en-IN" sz="1000" dirty="0">
                <a:solidFill>
                  <a:schemeClr val="bg1"/>
                </a:solidFill>
              </a:rPr>
              <a:t> 7   </a:t>
            </a:r>
            <a:r>
              <a:rPr lang="en-IN" sz="1000" dirty="0" err="1">
                <a:solidFill>
                  <a:schemeClr val="bg1"/>
                </a:solidFill>
              </a:rPr>
              <a:t>loan_int_rate</a:t>
            </a:r>
            <a:r>
              <a:rPr lang="en-IN" sz="1000" dirty="0">
                <a:solidFill>
                  <a:schemeClr val="bg1"/>
                </a:solidFill>
              </a:rPr>
              <a:t>               29465 non-null  float64</a:t>
            </a:r>
          </a:p>
          <a:p>
            <a:r>
              <a:rPr lang="en-IN" sz="1000" dirty="0">
                <a:solidFill>
                  <a:schemeClr val="bg1"/>
                </a:solidFill>
              </a:rPr>
              <a:t> 8   </a:t>
            </a:r>
            <a:r>
              <a:rPr lang="en-IN" sz="1000" dirty="0" err="1">
                <a:solidFill>
                  <a:schemeClr val="bg1"/>
                </a:solidFill>
              </a:rPr>
              <a:t>loan_status</a:t>
            </a:r>
            <a:r>
              <a:rPr lang="en-IN" sz="1000" dirty="0">
                <a:solidFill>
                  <a:schemeClr val="bg1"/>
                </a:solidFill>
              </a:rPr>
              <a:t>                 32581 non-null  int64  </a:t>
            </a:r>
          </a:p>
          <a:p>
            <a:r>
              <a:rPr lang="en-IN" sz="1000" dirty="0">
                <a:solidFill>
                  <a:schemeClr val="bg1"/>
                </a:solidFill>
              </a:rPr>
              <a:t> 9   </a:t>
            </a:r>
            <a:r>
              <a:rPr lang="en-IN" sz="1000" dirty="0" err="1">
                <a:solidFill>
                  <a:schemeClr val="bg1"/>
                </a:solidFill>
              </a:rPr>
              <a:t>loan_percent_income</a:t>
            </a:r>
            <a:r>
              <a:rPr lang="en-IN" sz="1000" dirty="0">
                <a:solidFill>
                  <a:schemeClr val="bg1"/>
                </a:solidFill>
              </a:rPr>
              <a:t>         32581 non-null  float64</a:t>
            </a:r>
          </a:p>
          <a:p>
            <a:r>
              <a:rPr lang="en-IN" sz="1000" dirty="0">
                <a:solidFill>
                  <a:schemeClr val="bg1"/>
                </a:solidFill>
              </a:rPr>
              <a:t> 10  </a:t>
            </a:r>
            <a:r>
              <a:rPr lang="en-IN" sz="1000" dirty="0" err="1">
                <a:solidFill>
                  <a:schemeClr val="bg1"/>
                </a:solidFill>
              </a:rPr>
              <a:t>cb_person_default_on_file</a:t>
            </a:r>
            <a:r>
              <a:rPr lang="en-IN" sz="1000" dirty="0">
                <a:solidFill>
                  <a:schemeClr val="bg1"/>
                </a:solidFill>
              </a:rPr>
              <a:t>   32581 non-null  object </a:t>
            </a:r>
          </a:p>
          <a:p>
            <a:r>
              <a:rPr lang="en-IN" sz="1000" dirty="0">
                <a:solidFill>
                  <a:schemeClr val="bg1"/>
                </a:solidFill>
              </a:rPr>
              <a:t> 11  </a:t>
            </a:r>
            <a:r>
              <a:rPr lang="en-IN" sz="1000" dirty="0" err="1">
                <a:solidFill>
                  <a:schemeClr val="bg1"/>
                </a:solidFill>
              </a:rPr>
              <a:t>cb_person_cred_hist_length</a:t>
            </a:r>
            <a:r>
              <a:rPr lang="en-IN" sz="1000" dirty="0">
                <a:solidFill>
                  <a:schemeClr val="bg1"/>
                </a:solidFill>
              </a:rPr>
              <a:t>  32581 non-null  int64  </a:t>
            </a:r>
          </a:p>
          <a:p>
            <a:r>
              <a:rPr lang="en-IN" sz="1000" dirty="0" err="1">
                <a:solidFill>
                  <a:schemeClr val="bg1"/>
                </a:solidFill>
              </a:rPr>
              <a:t>dtypes</a:t>
            </a:r>
            <a:r>
              <a:rPr lang="en-IN" sz="1000" dirty="0">
                <a:solidFill>
                  <a:schemeClr val="bg1"/>
                </a:solidFill>
              </a:rPr>
              <a:t>: float64(3), int64(5), object(4)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cs typeface="Arial" pitchFamily="34" charset="-120"/>
              </a:rPr>
              <a:t>Dataset Details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30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90"/>
              </a:lnSpc>
              <a:buSzPct val="100000"/>
              <a:buChar char="•"/>
            </a:pPr>
            <a:endParaRPr lang="en-US" sz="10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4D8336-3D30-4AC6-8932-6AA3B69DDD90}"/>
              </a:ext>
            </a:extLst>
          </p:cNvPr>
          <p:cNvSpPr txBox="1"/>
          <p:nvPr/>
        </p:nvSpPr>
        <p:spPr>
          <a:xfrm>
            <a:off x="451104" y="1016686"/>
            <a:ext cx="6150552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 Feature </a:t>
            </a:r>
            <a:r>
              <a:rPr lang="en-US" dirty="0" err="1">
                <a:solidFill>
                  <a:srgbClr val="00B0F0"/>
                </a:solidFill>
              </a:rPr>
              <a:t>Decsription</a:t>
            </a:r>
            <a:r>
              <a:rPr lang="en-US" dirty="0">
                <a:solidFill>
                  <a:srgbClr val="00B0F0"/>
                </a:solidFill>
              </a:rPr>
              <a:t>: </a:t>
            </a:r>
          </a:p>
          <a:p>
            <a:r>
              <a:rPr lang="en-US" sz="1000" dirty="0" err="1">
                <a:solidFill>
                  <a:schemeClr val="bg1"/>
                </a:solidFill>
              </a:rPr>
              <a:t>person_age</a:t>
            </a:r>
            <a:r>
              <a:rPr lang="en-US" sz="1000" dirty="0">
                <a:solidFill>
                  <a:schemeClr val="bg1"/>
                </a:solidFill>
              </a:rPr>
              <a:t> - Represents the applicant's age at the time of loan application.</a:t>
            </a:r>
          </a:p>
          <a:p>
            <a:r>
              <a:rPr lang="en-US" sz="1000" dirty="0" err="1">
                <a:solidFill>
                  <a:schemeClr val="bg1"/>
                </a:solidFill>
              </a:rPr>
              <a:t>person_income</a:t>
            </a:r>
            <a:r>
              <a:rPr lang="en-US" sz="1000" dirty="0">
                <a:solidFill>
                  <a:schemeClr val="bg1"/>
                </a:solidFill>
              </a:rPr>
              <a:t> - The applicant's yearly earnings.</a:t>
            </a:r>
          </a:p>
          <a:p>
            <a:r>
              <a:rPr lang="en-US" sz="1000" dirty="0" err="1">
                <a:solidFill>
                  <a:schemeClr val="bg1"/>
                </a:solidFill>
              </a:rPr>
              <a:t>person_home_ownership</a:t>
            </a:r>
            <a:r>
              <a:rPr lang="en-US" sz="1000" dirty="0">
                <a:solidFill>
                  <a:schemeClr val="bg1"/>
                </a:solidFill>
              </a:rPr>
              <a:t> - Housing status of the applicant, categorized as:</a:t>
            </a:r>
          </a:p>
          <a:p>
            <a:r>
              <a:rPr lang="en-US" sz="1000" dirty="0">
                <a:solidFill>
                  <a:schemeClr val="bg1"/>
                </a:solidFill>
              </a:rPr>
              <a:t>•	rent: Currently leasing a residence</a:t>
            </a:r>
          </a:p>
          <a:p>
            <a:r>
              <a:rPr lang="en-US" sz="1000" dirty="0">
                <a:solidFill>
                  <a:schemeClr val="bg1"/>
                </a:solidFill>
              </a:rPr>
              <a:t>•	mortgage: Property owner with an outstanding home loan</a:t>
            </a:r>
          </a:p>
          <a:p>
            <a:r>
              <a:rPr lang="en-US" sz="1000" dirty="0">
                <a:solidFill>
                  <a:schemeClr val="bg1"/>
                </a:solidFill>
              </a:rPr>
              <a:t>•	own: Full property ownership without debt</a:t>
            </a:r>
          </a:p>
          <a:p>
            <a:r>
              <a:rPr lang="en-US" sz="1000" dirty="0">
                <a:solidFill>
                  <a:schemeClr val="bg1"/>
                </a:solidFill>
              </a:rPr>
              <a:t>•	other: Alternative ownership arrangements</a:t>
            </a:r>
          </a:p>
          <a:p>
            <a:r>
              <a:rPr lang="en-US" sz="1000" dirty="0" err="1">
                <a:solidFill>
                  <a:schemeClr val="bg1"/>
                </a:solidFill>
              </a:rPr>
              <a:t>person_emp_length</a:t>
            </a:r>
            <a:r>
              <a:rPr lang="en-US" sz="1000" dirty="0">
                <a:solidFill>
                  <a:schemeClr val="bg1"/>
                </a:solidFill>
              </a:rPr>
              <a:t> - Duration of current employment measured in years.</a:t>
            </a:r>
          </a:p>
          <a:p>
            <a:r>
              <a:rPr lang="en-US" sz="1000" dirty="0" err="1">
                <a:solidFill>
                  <a:schemeClr val="bg1"/>
                </a:solidFill>
              </a:rPr>
              <a:t>loan_intent</a:t>
            </a:r>
            <a:r>
              <a:rPr lang="en-US" sz="1000" dirty="0">
                <a:solidFill>
                  <a:schemeClr val="bg1"/>
                </a:solidFill>
              </a:rPr>
              <a:t> - The purpose for which the loan is being requested.</a:t>
            </a:r>
          </a:p>
          <a:p>
            <a:r>
              <a:rPr lang="en-US" sz="1000" dirty="0" err="1">
                <a:solidFill>
                  <a:schemeClr val="bg1"/>
                </a:solidFill>
              </a:rPr>
              <a:t>loan_grade</a:t>
            </a:r>
            <a:r>
              <a:rPr lang="en-US" sz="1000" dirty="0">
                <a:solidFill>
                  <a:schemeClr val="bg1"/>
                </a:solidFill>
              </a:rPr>
              <a:t> - Credit risk classification ranging from A (lowest risk) to G (highest risk):</a:t>
            </a:r>
          </a:p>
          <a:p>
            <a:r>
              <a:rPr lang="en-US" sz="1000" dirty="0">
                <a:solidFill>
                  <a:schemeClr val="bg1"/>
                </a:solidFill>
              </a:rPr>
              <a:t>•	A: Excellent creditworthiness</a:t>
            </a:r>
          </a:p>
          <a:p>
            <a:r>
              <a:rPr lang="en-US" sz="1000" dirty="0">
                <a:solidFill>
                  <a:schemeClr val="bg1"/>
                </a:solidFill>
              </a:rPr>
              <a:t>•	B: Good credit standing</a:t>
            </a:r>
          </a:p>
          <a:p>
            <a:r>
              <a:rPr lang="en-US" sz="1000" dirty="0">
                <a:solidFill>
                  <a:schemeClr val="bg1"/>
                </a:solidFill>
              </a:rPr>
              <a:t>•	C: Average credit profile</a:t>
            </a:r>
          </a:p>
          <a:p>
            <a:r>
              <a:rPr lang="en-US" sz="1000" dirty="0">
                <a:solidFill>
                  <a:schemeClr val="bg1"/>
                </a:solidFill>
              </a:rPr>
              <a:t>•	D: Below-average credit quality</a:t>
            </a:r>
          </a:p>
          <a:p>
            <a:r>
              <a:rPr lang="en-US" sz="1000" dirty="0">
                <a:solidFill>
                  <a:schemeClr val="bg1"/>
                </a:solidFill>
              </a:rPr>
              <a:t>•	E: Poor credit standing</a:t>
            </a:r>
          </a:p>
          <a:p>
            <a:r>
              <a:rPr lang="en-US" sz="1000" dirty="0">
                <a:solidFill>
                  <a:schemeClr val="bg1"/>
                </a:solidFill>
              </a:rPr>
              <a:t>•	F: Very poor creditworthiness</a:t>
            </a:r>
          </a:p>
          <a:p>
            <a:r>
              <a:rPr lang="en-US" sz="1000" dirty="0">
                <a:solidFill>
                  <a:schemeClr val="bg1"/>
                </a:solidFill>
              </a:rPr>
              <a:t>•	G: Extremely high risk borrower</a:t>
            </a:r>
          </a:p>
          <a:p>
            <a:r>
              <a:rPr lang="en-US" sz="1000" dirty="0" err="1">
                <a:solidFill>
                  <a:schemeClr val="bg1"/>
                </a:solidFill>
              </a:rPr>
              <a:t>loan_amnt</a:t>
            </a:r>
            <a:r>
              <a:rPr lang="en-US" sz="1000" dirty="0">
                <a:solidFill>
                  <a:schemeClr val="bg1"/>
                </a:solidFill>
              </a:rPr>
              <a:t> - Total loan amount sought by the applicant.</a:t>
            </a:r>
          </a:p>
          <a:p>
            <a:r>
              <a:rPr lang="en-US" sz="1000" dirty="0" err="1">
                <a:solidFill>
                  <a:schemeClr val="bg1"/>
                </a:solidFill>
              </a:rPr>
              <a:t>loan_int_rate</a:t>
            </a:r>
            <a:r>
              <a:rPr lang="en-US" sz="1000" dirty="0">
                <a:solidFill>
                  <a:schemeClr val="bg1"/>
                </a:solidFill>
              </a:rPr>
              <a:t> - Annual percentage rate applied to the loan.</a:t>
            </a:r>
          </a:p>
          <a:p>
            <a:r>
              <a:rPr lang="en-US" sz="1000" b="1" dirty="0" err="1">
                <a:solidFill>
                  <a:schemeClr val="bg1"/>
                </a:solidFill>
              </a:rPr>
              <a:t>loan_status</a:t>
            </a:r>
            <a:r>
              <a:rPr lang="en-US" sz="1000" b="1" dirty="0">
                <a:solidFill>
                  <a:schemeClr val="bg1"/>
                </a:solidFill>
              </a:rPr>
              <a:t> </a:t>
            </a:r>
            <a:r>
              <a:rPr lang="en-US" sz="1000" dirty="0">
                <a:solidFill>
                  <a:schemeClr val="bg1"/>
                </a:solidFill>
              </a:rPr>
              <a:t>- Binary outcome variable (0 = repaid successfully, 1 = defaulted)</a:t>
            </a:r>
          </a:p>
          <a:p>
            <a:r>
              <a:rPr lang="en-US" sz="1000" dirty="0" err="1">
                <a:solidFill>
                  <a:schemeClr val="bg1"/>
                </a:solidFill>
              </a:rPr>
              <a:t>loan_percent_income</a:t>
            </a:r>
            <a:r>
              <a:rPr lang="en-US" sz="1000" dirty="0">
                <a:solidFill>
                  <a:schemeClr val="bg1"/>
                </a:solidFill>
              </a:rPr>
              <a:t> - Debt-to-income ratio expressed as a percentage.</a:t>
            </a:r>
          </a:p>
          <a:p>
            <a:r>
              <a:rPr lang="en-US" sz="1000" dirty="0" err="1">
                <a:solidFill>
                  <a:schemeClr val="bg1"/>
                </a:solidFill>
              </a:rPr>
              <a:t>cb_person_default_on_file</a:t>
            </a:r>
            <a:r>
              <a:rPr lang="en-US" sz="1000" dirty="0">
                <a:solidFill>
                  <a:schemeClr val="bg1"/>
                </a:solidFill>
              </a:rPr>
              <a:t> - Prior default history from credit bureau (Y = past defaults exist, N = clean record)</a:t>
            </a:r>
          </a:p>
          <a:p>
            <a:r>
              <a:rPr lang="en-US" sz="1000" dirty="0" err="1">
                <a:solidFill>
                  <a:schemeClr val="bg1"/>
                </a:solidFill>
              </a:rPr>
              <a:t>cb_preson_cred_hist_length</a:t>
            </a:r>
            <a:r>
              <a:rPr lang="en-US" sz="1000" dirty="0">
                <a:solidFill>
                  <a:schemeClr val="bg1"/>
                </a:solidFill>
              </a:rPr>
              <a:t> - Number of years the individual has maintained credit accounts.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5320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Input - Customer Data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30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90"/>
              </a:lnSpc>
              <a:buSzPct val="100000"/>
            </a:pPr>
            <a:endParaRPr lang="en-US" sz="10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EADE98-4679-4865-A8DA-262E7BE09AEE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48145" y="1729401"/>
            <a:ext cx="6219825" cy="15284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77B2982-8788-4FF8-8CDE-1AEFDA3B5F8B}"/>
              </a:ext>
            </a:extLst>
          </p:cNvPr>
          <p:cNvSpPr txBox="1"/>
          <p:nvPr/>
        </p:nvSpPr>
        <p:spPr>
          <a:xfrm>
            <a:off x="678872" y="1409309"/>
            <a:ext cx="5146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Input to ML Model:</a:t>
            </a:r>
            <a:endParaRPr lang="en-IN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637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Input - Customer Data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30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90"/>
              </a:lnSpc>
              <a:buSzPct val="100000"/>
            </a:pPr>
            <a:endParaRPr lang="en-US" sz="10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66A423-E418-4009-9253-3968B2ACCCA5}"/>
              </a:ext>
            </a:extLst>
          </p:cNvPr>
          <p:cNvSpPr txBox="1"/>
          <p:nvPr/>
        </p:nvSpPr>
        <p:spPr>
          <a:xfrm>
            <a:off x="609600" y="1189303"/>
            <a:ext cx="5146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UI Input:</a:t>
            </a:r>
            <a:endParaRPr lang="en-IN" dirty="0">
              <a:solidFill>
                <a:srgbClr val="00B0F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902F60A-463F-44C9-B9E4-434249A43923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09600" y="1864184"/>
            <a:ext cx="6219825" cy="2028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0301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Output - Risk Classification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09600" y="1241971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20"/>
              </a:lnSpc>
            </a:pPr>
            <a:r>
              <a:rPr lang="en-US" sz="1800" cap="all" spc="50" dirty="0">
                <a:solidFill>
                  <a:srgbClr val="00B0F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</a:rPr>
              <a:t>risk parameter UI :</a:t>
            </a:r>
            <a:endParaRPr lang="en-IN" sz="1800" cap="all" spc="50" dirty="0">
              <a:solidFill>
                <a:srgbClr val="00B0F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0" indent="0">
              <a:lnSpc>
                <a:spcPts val="2520"/>
              </a:lnSpc>
              <a:buNone/>
            </a:pP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9600" y="4558586"/>
            <a:ext cx="7616952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Risk Factors: Loan Grade D, Employment Length, Credit History</a:t>
            </a:r>
            <a:endParaRPr lang="en-US" sz="1080" i="1" dirty="0"/>
          </a:p>
        </p:txBody>
      </p:sp>
      <p:sp>
        <p:nvSpPr>
          <p:cNvPr id="7" name="Text 5"/>
          <p:cNvSpPr/>
          <p:nvPr/>
        </p:nvSpPr>
        <p:spPr>
          <a:xfrm>
            <a:off x="651596" y="4782275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Categories: APPROVE (0-30%), REVIEW (30-70%), REJECT (70-100%)</a:t>
            </a:r>
            <a:endParaRPr lang="en-US" sz="10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841DD0F-90BF-44C0-B4CF-7CF4603BE55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09600" y="1593652"/>
            <a:ext cx="5749204" cy="275717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Metrics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Overall correctness (TP + TN) / Total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True defaults among predicted defaults (TP / (TP + FP))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Actual defaults correctly identified (TP / (TP + FN))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Specificity: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Non-defaults correctly identified (TN / (TN + FP))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on 1000 Inputs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Stratified test set of 1000 loan records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1872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distribution maintained: ~78% good, ~22% defaults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Accuracy, Precision, Recall, Specificity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confusion matrix and ROC-AUC score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per-category performance (APPROVE/REVIEW/REJECT)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Papers - Key Findings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Reviewed 8 seminal papers on credit risk prediction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1248" y="1489580"/>
            <a:ext cx="7620000" cy="928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Overall Algorithm:</a:t>
            </a: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LightGBM (AUC 0.92-0.96)</a:t>
            </a:r>
            <a:endParaRPr lang="en-US" sz="10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Handling:</a:t>
            </a: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SMOTE/SMOTEENN for class imbalance, 700+ features</a:t>
            </a:r>
            <a:endParaRPr lang="en-US" sz="10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 Approach:</a:t>
            </a: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Combining RF, XGBoost, Tabnet improves performance</a:t>
            </a:r>
            <a:endParaRPr lang="en-US" sz="10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144B33B-B18E-4F11-B9C9-B3EAD70AAC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4784832"/>
              </p:ext>
            </p:extLst>
          </p:nvPr>
        </p:nvGraphicFramePr>
        <p:xfrm>
          <a:off x="609600" y="2731029"/>
          <a:ext cx="7886700" cy="232581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77340">
                  <a:extLst>
                    <a:ext uri="{9D8B030D-6E8A-4147-A177-3AD203B41FA5}">
                      <a16:colId xmlns:a16="http://schemas.microsoft.com/office/drawing/2014/main" val="3041634078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865897598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912619598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4110367915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8742655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</a:pPr>
                      <a:r>
                        <a:rPr lang="en-US" sz="850">
                          <a:effectLst/>
                        </a:rPr>
                        <a:t>Paper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</a:pPr>
                      <a:r>
                        <a:rPr lang="en-US" sz="850">
                          <a:effectLst/>
                        </a:rPr>
                        <a:t>Algorithm(s)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</a:pPr>
                      <a:r>
                        <a:rPr lang="en-US" sz="850">
                          <a:effectLst/>
                        </a:rPr>
                        <a:t>Best Accuracy/AUC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</a:pPr>
                      <a:r>
                        <a:rPr lang="en-US" sz="850">
                          <a:effectLst/>
                        </a:rPr>
                        <a:t>Unique Contribution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</a:pPr>
                      <a:r>
                        <a:rPr lang="en-US" sz="850">
                          <a:effectLst/>
                        </a:rPr>
                        <a:t>Data Size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21069960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</a:pPr>
                      <a:r>
                        <a:rPr lang="en-US" sz="850">
                          <a:effectLst/>
                        </a:rPr>
                        <a:t>1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</a:pPr>
                      <a:r>
                        <a:rPr lang="en-US" sz="850" dirty="0" err="1">
                          <a:effectLst/>
                        </a:rPr>
                        <a:t>LightGBM</a:t>
                      </a:r>
                      <a:endParaRPr lang="en-IN" sz="1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</a:pPr>
                      <a:r>
                        <a:rPr lang="en-US" sz="850">
                          <a:effectLst/>
                        </a:rPr>
                        <a:t>0.705 AUC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</a:pPr>
                      <a:r>
                        <a:rPr lang="en-US" sz="850">
                          <a:effectLst/>
                        </a:rPr>
                        <a:t>AUC stability index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</a:pPr>
                      <a:r>
                        <a:rPr lang="en-US" sz="850">
                          <a:effectLst/>
                        </a:rPr>
                        <a:t>Large (Sichuan competition)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8150860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</a:pPr>
                      <a:r>
                        <a:rPr lang="en-US" sz="850">
                          <a:effectLst/>
                        </a:rPr>
                        <a:t>2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</a:pPr>
                      <a:r>
                        <a:rPr lang="en-US" sz="850" dirty="0" err="1">
                          <a:effectLst/>
                        </a:rPr>
                        <a:t>XGBoost</a:t>
                      </a:r>
                      <a:endParaRPr lang="en-IN" sz="1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</a:pPr>
                      <a:r>
                        <a:rPr lang="en-US" sz="850">
                          <a:effectLst/>
                        </a:rPr>
                        <a:t>90.79% AUC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</a:pPr>
                      <a:r>
                        <a:rPr lang="en-US" sz="850">
                          <a:effectLst/>
                        </a:rPr>
                        <a:t>Feature engineering (700 vars)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</a:pPr>
                      <a:r>
                        <a:rPr lang="en-US" sz="850">
                          <a:effectLst/>
                        </a:rPr>
                        <a:t>50,000 samples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957291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</a:pPr>
                      <a:r>
                        <a:rPr lang="en-US" sz="850">
                          <a:effectLst/>
                        </a:rPr>
                        <a:t>3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</a:pPr>
                      <a:r>
                        <a:rPr lang="en-US" sz="850">
                          <a:effectLst/>
                        </a:rPr>
                        <a:t>Random Forest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</a:pPr>
                      <a:r>
                        <a:rPr lang="en-US" sz="850">
                          <a:effectLst/>
                        </a:rPr>
                        <a:t>88.3%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</a:pPr>
                      <a:r>
                        <a:rPr lang="en-US" sz="850">
                          <a:effectLst/>
                        </a:rPr>
                        <a:t>Algorithm comparison (4 methods)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</a:pPr>
                      <a:r>
                        <a:rPr lang="en-US" sz="850">
                          <a:effectLst/>
                        </a:rPr>
                        <a:t>Large dataset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9136509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</a:pPr>
                      <a:r>
                        <a:rPr lang="en-US" sz="850">
                          <a:effectLst/>
                        </a:rPr>
                        <a:t>4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</a:pPr>
                      <a:r>
                        <a:rPr lang="en-US" sz="850">
                          <a:effectLst/>
                        </a:rPr>
                        <a:t>WGAN-GP + LightGBM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</a:pPr>
                      <a:r>
                        <a:rPr lang="en-US" sz="850">
                          <a:effectLst/>
                        </a:rPr>
                        <a:t>86.7% accuracy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</a:pPr>
                      <a:r>
                        <a:rPr lang="en-US" sz="850">
                          <a:effectLst/>
                        </a:rPr>
                        <a:t>GAN for imbalance + LightGBM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</a:pPr>
                      <a:r>
                        <a:rPr lang="en-US" sz="850">
                          <a:effectLst/>
                        </a:rPr>
                        <a:t>559 features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3763148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</a:pPr>
                      <a:r>
                        <a:rPr lang="en-US" sz="850">
                          <a:effectLst/>
                        </a:rPr>
                        <a:t>5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</a:pPr>
                      <a:r>
                        <a:rPr lang="en-US" sz="850">
                          <a:effectLst/>
                        </a:rPr>
                        <a:t>LightGBM + SHAP + LIME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</a:pPr>
                      <a:r>
                        <a:rPr lang="en-US" sz="850">
                          <a:effectLst/>
                        </a:rPr>
                        <a:t>96.1%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</a:pPr>
                      <a:r>
                        <a:rPr lang="en-US" sz="850" dirty="0" err="1">
                          <a:effectLst/>
                        </a:rPr>
                        <a:t>Explainability</a:t>
                      </a:r>
                      <a:r>
                        <a:rPr lang="en-US" sz="850" dirty="0">
                          <a:effectLst/>
                        </a:rPr>
                        <a:t> focus</a:t>
                      </a:r>
                      <a:endParaRPr lang="en-IN" sz="1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</a:pPr>
                      <a:r>
                        <a:rPr lang="en-US" sz="850">
                          <a:effectLst/>
                        </a:rPr>
                        <a:t>Large bank dataset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3647023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</a:pPr>
                      <a:r>
                        <a:rPr lang="en-US" sz="850">
                          <a:effectLst/>
                        </a:rPr>
                        <a:t>6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</a:pPr>
                      <a:r>
                        <a:rPr lang="en-US" sz="850" dirty="0">
                          <a:effectLst/>
                        </a:rPr>
                        <a:t>Random Forest</a:t>
                      </a:r>
                      <a:endParaRPr lang="en-IN" sz="1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</a:pPr>
                      <a:r>
                        <a:rPr lang="en-US" sz="850">
                          <a:effectLst/>
                        </a:rPr>
                        <a:t>90-98%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</a:pPr>
                      <a:r>
                        <a:rPr lang="en-US" sz="850">
                          <a:effectLst/>
                        </a:rPr>
                        <a:t>Feature importance analysis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</a:pPr>
                      <a:r>
                        <a:rPr lang="en-US" sz="850">
                          <a:effectLst/>
                        </a:rPr>
                        <a:t>High-dimensional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7516753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</a:pPr>
                      <a:r>
                        <a:rPr lang="en-US" sz="850">
                          <a:effectLst/>
                        </a:rPr>
                        <a:t>7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</a:pPr>
                      <a:r>
                        <a:rPr lang="en-US" sz="85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LightGBM</a:t>
                      </a:r>
                      <a:r>
                        <a:rPr lang="en-US" sz="85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+ PCA + SMOTEENN</a:t>
                      </a:r>
                      <a:endParaRPr lang="en-IN" sz="850" b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</a:pPr>
                      <a:r>
                        <a:rPr lang="en-US" sz="850" dirty="0">
                          <a:effectLst/>
                        </a:rPr>
                        <a:t>92.4%</a:t>
                      </a:r>
                      <a:endParaRPr lang="en-IN" sz="1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</a:pPr>
                      <a:r>
                        <a:rPr lang="en-US" sz="850" dirty="0">
                          <a:effectLst/>
                        </a:rPr>
                        <a:t>Dimensionality reduction</a:t>
                      </a:r>
                      <a:endParaRPr lang="en-IN" sz="1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</a:pPr>
                      <a:r>
                        <a:rPr lang="en-US" sz="850" dirty="0">
                          <a:effectLst/>
                        </a:rPr>
                        <a:t>40,000 records</a:t>
                      </a:r>
                      <a:endParaRPr lang="en-IN" sz="1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2729156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</a:pPr>
                      <a:r>
                        <a:rPr lang="en-US" sz="850">
                          <a:effectLst/>
                        </a:rPr>
                        <a:t>8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</a:pPr>
                      <a:r>
                        <a:rPr lang="en-US" sz="850">
                          <a:effectLst/>
                        </a:rPr>
                        <a:t>DEML (RF+XGB+SVM+ANN)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</a:pPr>
                      <a:r>
                        <a:rPr lang="en-US" sz="850" dirty="0">
                          <a:effectLst/>
                        </a:rPr>
                        <a:t>99.16%</a:t>
                      </a:r>
                      <a:endParaRPr lang="en-IN" sz="1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</a:pPr>
                      <a:r>
                        <a:rPr lang="en-US" sz="850">
                          <a:effectLst/>
                        </a:rPr>
                        <a:t>Ensemble voting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1000"/>
                        </a:spcAft>
                      </a:pPr>
                      <a:r>
                        <a:rPr lang="en-US" sz="850" dirty="0">
                          <a:effectLst/>
                        </a:rPr>
                        <a:t>284,807 transactions</a:t>
                      </a:r>
                      <a:endParaRPr lang="en-IN" sz="1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2646430333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B246BBDA-86D6-47C4-8EFD-F770C78262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412471"/>
            <a:ext cx="914400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Calibri" panose="020F0502020204030204" pitchFamily="34" charset="0"/>
                <a:ea typeface="inter"/>
                <a:cs typeface="inter"/>
              </a:rPr>
              <a:t>C</a:t>
            </a:r>
            <a:r>
              <a:rPr kumimoji="0" lang="en-US" altLang="en-US" sz="1200" b="1" i="0" u="none" strike="noStrike" cap="none" normalizeH="0" baseline="0" dirty="0" bmk="">
                <a:ln>
                  <a:noFill/>
                </a:ln>
                <a:solidFill>
                  <a:srgbClr val="00B0F0"/>
                </a:solidFill>
                <a:effectLst/>
                <a:latin typeface="Calibri" panose="020F0502020204030204" pitchFamily="34" charset="0"/>
                <a:ea typeface="inter"/>
                <a:cs typeface="inter"/>
              </a:rPr>
              <a:t>omparative Summary Table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B0F0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561"/>
            <a:ext cx="3810000" cy="99432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24400" y="1249561"/>
            <a:ext cx="3810000" cy="99432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Research Insights Applied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8200" y="1478161"/>
            <a:ext cx="341985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5 (XAI Focus)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1828651"/>
            <a:ext cx="341985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+ LIME for interpretable predictions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953000" y="1478161"/>
            <a:ext cx="341985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7 (PCA+SMOTEENN)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53000" y="1828651"/>
            <a:ext cx="341985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Dimensionality reduction with imbalance handling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Performance Results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01637" y="3821582"/>
            <a:ext cx="8642363" cy="861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chemeClr val="bg2"/>
                </a:solidFill>
              </a:rPr>
              <a:t>SVC: </a:t>
            </a:r>
            <a:r>
              <a:rPr lang="en-US" sz="1050" dirty="0">
                <a:solidFill>
                  <a:schemeClr val="bg2"/>
                </a:solidFill>
              </a:rPr>
              <a:t>Support Vector Classifier </a:t>
            </a:r>
            <a:r>
              <a:rPr lang="en-US" sz="1050" b="1" dirty="0">
                <a:solidFill>
                  <a:schemeClr val="bg2"/>
                </a:solidFill>
              </a:rPr>
              <a:t>KN:</a:t>
            </a:r>
            <a:r>
              <a:rPr lang="en-US" sz="1050" dirty="0">
                <a:solidFill>
                  <a:schemeClr val="bg2"/>
                </a:solidFill>
              </a:rPr>
              <a:t> K-Neighbors Classifier (K-Nearest Neighbors) </a:t>
            </a:r>
            <a:r>
              <a:rPr lang="en-US" sz="1050" b="1" dirty="0">
                <a:solidFill>
                  <a:schemeClr val="bg2"/>
                </a:solidFill>
              </a:rPr>
              <a:t>DT:</a:t>
            </a:r>
            <a:r>
              <a:rPr lang="en-US" sz="1050" dirty="0">
                <a:solidFill>
                  <a:schemeClr val="bg2"/>
                </a:solidFill>
              </a:rPr>
              <a:t> Decision Tree Classifier </a:t>
            </a:r>
            <a:r>
              <a:rPr lang="en-US" sz="1050" b="1" dirty="0">
                <a:solidFill>
                  <a:schemeClr val="bg2"/>
                </a:solidFill>
              </a:rPr>
              <a:t>LR:</a:t>
            </a:r>
            <a:r>
              <a:rPr lang="en-US" sz="1050" dirty="0">
                <a:solidFill>
                  <a:schemeClr val="bg2"/>
                </a:solidFill>
              </a:rPr>
              <a:t> Logistic Regression </a:t>
            </a:r>
            <a:r>
              <a:rPr lang="en-US" sz="1050" b="1" dirty="0">
                <a:solidFill>
                  <a:schemeClr val="bg2"/>
                </a:solidFill>
              </a:rPr>
              <a:t>RF: </a:t>
            </a:r>
            <a:r>
              <a:rPr lang="en-US" sz="1050" dirty="0">
                <a:solidFill>
                  <a:schemeClr val="bg2"/>
                </a:solidFill>
              </a:rPr>
              <a:t>Random Forest Classifier</a:t>
            </a:r>
          </a:p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chemeClr val="bg2"/>
                </a:solidFill>
              </a:rPr>
              <a:t>AdaBoost: </a:t>
            </a:r>
            <a:r>
              <a:rPr lang="en-US" sz="1050" dirty="0">
                <a:solidFill>
                  <a:schemeClr val="bg2"/>
                </a:solidFill>
              </a:rPr>
              <a:t>AdaBoost Classifier (Adaptive Boosting) </a:t>
            </a:r>
            <a:r>
              <a:rPr lang="en-US" sz="1050" b="1" dirty="0" err="1">
                <a:solidFill>
                  <a:schemeClr val="bg2"/>
                </a:solidFill>
              </a:rPr>
              <a:t>BgC</a:t>
            </a:r>
            <a:r>
              <a:rPr lang="en-US" sz="1050" b="1" dirty="0">
                <a:solidFill>
                  <a:schemeClr val="bg2"/>
                </a:solidFill>
              </a:rPr>
              <a:t>: </a:t>
            </a:r>
            <a:r>
              <a:rPr lang="en-US" sz="1050" dirty="0">
                <a:solidFill>
                  <a:schemeClr val="bg2"/>
                </a:solidFill>
              </a:rPr>
              <a:t>Bagging Classifier </a:t>
            </a:r>
            <a:r>
              <a:rPr lang="en-US" sz="1050" b="1" dirty="0">
                <a:solidFill>
                  <a:schemeClr val="bg2"/>
                </a:solidFill>
              </a:rPr>
              <a:t>ETC: </a:t>
            </a:r>
            <a:r>
              <a:rPr lang="en-US" sz="1050" dirty="0">
                <a:solidFill>
                  <a:schemeClr val="bg2"/>
                </a:solidFill>
              </a:rPr>
              <a:t>Extra Trees Classifier (Extremely Randomized Trees)</a:t>
            </a:r>
          </a:p>
          <a:p>
            <a:pPr marL="0" indent="0">
              <a:lnSpc>
                <a:spcPts val="1470"/>
              </a:lnSpc>
              <a:buNone/>
            </a:pPr>
            <a:r>
              <a:rPr lang="en-US" sz="1050" b="1" dirty="0">
                <a:solidFill>
                  <a:schemeClr val="bg2"/>
                </a:solidFill>
              </a:rPr>
              <a:t>GBDT: </a:t>
            </a:r>
            <a:r>
              <a:rPr lang="en-US" sz="1050" dirty="0">
                <a:solidFill>
                  <a:schemeClr val="bg2"/>
                </a:solidFill>
              </a:rPr>
              <a:t>Gradient Boosting Decision Tree (Gradient Boosting Classifier) </a:t>
            </a:r>
            <a:r>
              <a:rPr lang="en-US" sz="1050" b="1" dirty="0" err="1">
                <a:solidFill>
                  <a:schemeClr val="bg2"/>
                </a:solidFill>
              </a:rPr>
              <a:t>xgb</a:t>
            </a:r>
            <a:r>
              <a:rPr lang="en-US" sz="1050" b="1" dirty="0">
                <a:solidFill>
                  <a:schemeClr val="bg2"/>
                </a:solidFill>
              </a:rPr>
              <a:t>: </a:t>
            </a:r>
            <a:r>
              <a:rPr lang="en-US" sz="1050" dirty="0" err="1">
                <a:solidFill>
                  <a:schemeClr val="bg2"/>
                </a:solidFill>
              </a:rPr>
              <a:t>XGBoost</a:t>
            </a:r>
            <a:r>
              <a:rPr lang="en-US" sz="1050" dirty="0">
                <a:solidFill>
                  <a:schemeClr val="bg2"/>
                </a:solidFill>
              </a:rPr>
              <a:t> Classifier (Extreme Gradient Boosting)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B32E50D-CE0F-4369-BA22-B546B557D7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638" y="1020961"/>
            <a:ext cx="6920397" cy="26366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Comparison Summary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3400" y="1249560"/>
            <a:ext cx="8001000" cy="210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Overall Performer: 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(RF) achieved the highest Accuracy (93.26%) and Precision (97.56%), making it the most reliable model for minimizing false positives.</a:t>
            </a:r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 Identifying Risk (Recall): 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Decision Tree (DT) model had the highest Recall (75.48%). While it is less accurate overall than the ensemble models (RF, </a:t>
            </a:r>
            <a:r>
              <a:rPr lang="en-US" sz="10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BgC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it captured the highest number of actual positive cases (credit risks).</a:t>
            </a:r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 Dominance: 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Tree-based ensemble methods (Random Forest, Bagging Classifier, Gradient Boosting) consistently outperformed individual classifiers like Logistic Regression and K-Neighbors.</a:t>
            </a:r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SVC Issue: </a:t>
            </a: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Support Vector Classifier (SVC) appears to have predicted the negative class for every instance (Specificity 100%, Recall 0%), indicating it failed to learn the positive class patterns with the current hyperparameters.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99" y="609600"/>
            <a:ext cx="8222673" cy="789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1: </a:t>
            </a:r>
            <a:r>
              <a:rPr lang="en-US" sz="2800" b="1" i="0" dirty="0">
                <a:solidFill>
                  <a:srgbClr val="00B0F0"/>
                </a:solidFill>
                <a:effectLst/>
                <a:latin typeface="Segoe WPC"/>
              </a:rPr>
              <a:t>Feature Alignment &amp; Inference Consistency</a:t>
            </a:r>
            <a:r>
              <a:rPr lang="en-US" sz="2800" b="0" i="0" dirty="0">
                <a:solidFill>
                  <a:srgbClr val="00B0F0"/>
                </a:solidFill>
                <a:effectLst/>
                <a:latin typeface="Segoe WPC"/>
              </a:rPr>
              <a:t> </a:t>
            </a:r>
            <a:r>
              <a:rPr lang="en-US" sz="2800" b="1" i="0" dirty="0">
                <a:solidFill>
                  <a:srgbClr val="00B0F0"/>
                </a:solidFill>
                <a:effectLst/>
                <a:latin typeface="Segoe WPC"/>
              </a:rPr>
              <a:t>Issue</a:t>
            </a:r>
            <a:endParaRPr lang="en-US" sz="2700" dirty="0">
              <a:solidFill>
                <a:srgbClr val="00B0F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1445717"/>
            <a:ext cx="8083296" cy="588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0" i="0" dirty="0">
                <a:solidFill>
                  <a:srgbClr val="CCCCCC"/>
                </a:solidFill>
                <a:effectLst/>
                <a:latin typeface="Segoe WPC"/>
              </a:rPr>
              <a:t>The model prediction failed because raw input data lacked the specific feature engineering, scaling, and column ordering (e.g., One-Hot Encoded columns) required by the trained model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208059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Models biased toward majority class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2470249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10935" y="2793640"/>
            <a:ext cx="7620000" cy="1740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Mirrored Pipeline: Replicated training logic (feature engineering, binning) for consistent inference.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Enforcement: Enforced exact column structure to prevent shape mismatches.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Encoding: Zero-padded missing categories to handle single-record inputs.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Scaling: Applied saved </a:t>
            </a:r>
            <a:r>
              <a:rPr lang="en-US" sz="13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StandardScaler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identical numeric transformation.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2: Class Imbalance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Dataset has ~78% good loans, 22% defaults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641872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Models biased toward majority class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2034183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14400" y="2274094"/>
            <a:ext cx="7620000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SMOTE (Synthetic Minority Oversampling)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weighting during model training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Stratified cross-validation for fair evaluation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6709864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3: Feature Engineering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Raw 12 features insufficient for optimal performance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641872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Implemented: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14400" y="2034183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loan_percent_income ratio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Encoded categorical variables (home ownership, loan grade, intent)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Normalized numerical features for consistency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top features using feature importance analysis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4: Model Selection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Choosing optimal model from multiple candidates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641872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Resolution: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14400" y="2034183"/>
            <a:ext cx="7620000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8+ models with GridSearchCV hyperparameter tuning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Evaluated using ROC-AUC, Precision-Recall, F1-score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Random Forest for production (best balance)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5: Model Interpretability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Black-box models lack explainability for banking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641872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14400" y="2034183"/>
            <a:ext cx="7620000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SHAP for feature importance visualization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LIME for local instance-level explanations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business-friendly risk reports with justifications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561"/>
            <a:ext cx="7924800" cy="1023938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Results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76300" y="1478161"/>
            <a:ext cx="75780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Model: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Random Forest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76300" y="1767632"/>
            <a:ext cx="7578090" cy="277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84"/>
              </a:lnSpc>
              <a:buNone/>
            </a:pPr>
            <a:r>
              <a:rPr lang="en-US" sz="156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93.25% Accuracy | 97.56% Precision | 70.73% Recall</a:t>
            </a:r>
            <a:endParaRPr lang="en-US" sz="1560" dirty="0"/>
          </a:p>
        </p:txBody>
      </p:sp>
      <p:sp>
        <p:nvSpPr>
          <p:cNvPr id="6" name="Text 4"/>
          <p:cNvSpPr/>
          <p:nvPr/>
        </p:nvSpPr>
        <p:spPr>
          <a:xfrm>
            <a:off x="914400" y="2502098"/>
            <a:ext cx="7620000" cy="36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Successfully developed for production-ready architecture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&amp; Future Scope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Deployment: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Flask REST API + SQLite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1872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containerization for scalability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pipeline for continuous model updates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tracking for experiment versioning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monitoring with DVC for data pipelines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4014" y="1493639"/>
            <a:ext cx="2495973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545954" y="2347020"/>
            <a:ext cx="20519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332820" y="2766120"/>
            <a:ext cx="247821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Risk Assessment System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016914" y="3463230"/>
            <a:ext cx="311002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by: Tom Babu (HSBC Technology India)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747</TotalTime>
  <Words>1545</Words>
  <Application>Microsoft Office PowerPoint</Application>
  <PresentationFormat>On-screen Show (16:9)</PresentationFormat>
  <Paragraphs>222</Paragraphs>
  <Slides>25</Slides>
  <Notes>25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Segoe WPC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zanjesud@gmail.com</cp:lastModifiedBy>
  <cp:revision>18</cp:revision>
  <dcterms:created xsi:type="dcterms:W3CDTF">2026-01-02T15:43:37Z</dcterms:created>
  <dcterms:modified xsi:type="dcterms:W3CDTF">2026-01-04T12:27:16Z</dcterms:modified>
</cp:coreProperties>
</file>